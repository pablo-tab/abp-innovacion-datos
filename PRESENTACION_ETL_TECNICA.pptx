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4E79"/>
                </a:solidFill>
              </a:defRPr>
            </a:pPr>
            <a:r>
              <a:t>PROCESO ETL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D7D31"/>
                </a:solidFill>
              </a:defRPr>
            </a:pPr>
            <a:r>
              <a:t>Extract → Transform →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Python 3.13 • Pandas • SQLite • Matplotlib</a:t>
            </a:r>
          </a:p>
          <a:p>
            <a:pPr algn="ctr">
              <a:defRPr sz="1600">
                <a:solidFill>
                  <a:srgbClr val="404040"/>
                </a:solidFill>
              </a:defRPr>
            </a:pPr>
            <a:r>
              <a:t>99,459 transacciones • Google Colab compatible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¿Qué es ETL?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D7D31"/>
                </a:solidFill>
              </a:defRPr>
            </a:pPr>
            <a:r>
              <a:t>ETL = Extract + Transform +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6400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📥 EXTRACT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Obtener datos desde fuentes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6400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D7D31"/>
                </a:solidFill>
              </a:defRPr>
            </a:pPr>
            <a:r>
              <a:t>🔄 TRANSFORM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Limpiar, calcular, validar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6400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0AD47"/>
                </a:solidFill>
              </a:defRPr>
            </a:pPr>
            <a:r>
              <a:t>📤 LOAD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Cargar a base de datos relacional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AD47"/>
                </a:solidFill>
              </a:defRPr>
            </a:pPr>
            <a:r>
              <a:t>CONCEPTO TEÓRICO: Integración de datos (BD II) + Automatización (Prog 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PERSONA 1: EXTRACT - Carga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680960" cy="25603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740664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Cargar datos de ventas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df_sales = pd.read_csv('sales_data.csv')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print(df_sales.shape)  # (99459, 8)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Cargar datos de clientes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df_customers = pd.read_csv('customer_data.csv')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print(df_customers.shape)  # (100,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t>OUTPUT:</a:t>
            </a:r>
          </a:p>
          <a:p>
            <a:pPr lvl="1">
              <a:defRPr sz="1400">
                <a:latin typeface="Consolas"/>
              </a:defRPr>
            </a:pPr>
            <a:r>
              <a:t>✓ df_sales: 99,459 filas × 8 columnas (invoice_no, customer_id, category, quantity, price...)</a:t>
            </a:r>
          </a:p>
          <a:p>
            <a:pPr lvl="1">
              <a:defRPr sz="1400">
                <a:latin typeface="Consolas"/>
              </a:defRPr>
            </a:pPr>
            <a:r>
              <a:t>✓ df_customers: 100 filas × 3 columnas (customer_id, gender, 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AD47"/>
                </a:solidFill>
              </a:defRPr>
            </a:pPr>
            <a:r>
              <a:t>¿Qué es un DataFrame? Estructura bidimensional de Pandas (similar a tabla SQL)</a:t>
            </a:r>
          </a:p>
          <a:p>
            <a:pPr>
              <a:defRPr sz="1400" i="1">
                <a:solidFill>
                  <a:srgbClr val="70AD47"/>
                </a:solidFill>
              </a:defRPr>
            </a:pPr>
            <a:r>
              <a:t>¿Por qué Pandas? Optimizado en C, 1000x más rápido que listas Python puras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MERGE: Combinación de tablas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CÓDIGO PANDAS: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65760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df_combined = pd.merge(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df_sales,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df_customers,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on='customer_id',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how='left'  # LEFT JOIN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EQUIVALENTE SQL: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65760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5544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SELECT *</a:t>
            </a:r>
          </a:p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FROM sales</a:t>
            </a:r>
          </a:p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LEFT JOIN customers</a:t>
            </a:r>
          </a:p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  ON sales.customer_id =</a:t>
            </a:r>
          </a:p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     customers.customer_id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t>RESULTADO: df_combined con 99,459 filas × 11 columnas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0AD47"/>
                </a:solidFill>
              </a:defRPr>
            </a:pPr>
            <a:r>
              <a:t>CONCEPTO TEÓRICO: JOIN (Base de Datos II)</a:t>
            </a:r>
          </a:p>
          <a:p>
            <a:pPr lvl="1">
              <a:defRPr sz="1400" i="1"/>
            </a:pPr>
            <a:r>
              <a:t>¿Por qué LEFT JOIN? Preserva TODAS las ventas (99,459 filas)</a:t>
            </a:r>
          </a:p>
          <a:p>
            <a:pPr lvl="1">
              <a:defRPr sz="1400" i="1"/>
            </a:pPr>
            <a:r>
              <a:t>INNER JOIN eliminaría transacciones sin datos demográficos → pérdida de información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PERSONA 2: Librerías utilizadas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472C4"/>
                </a:solidFill>
              </a:defRPr>
            </a:pPr>
            <a:r>
              <a:t>📚 PANDAS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import pandas as 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Manipulación de datos: limpieza, merge, cálculos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472C4"/>
                </a:solidFill>
              </a:defRPr>
            </a:pPr>
            <a:r>
              <a:t>📚 NUMPY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import numpy as np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Arrays multidimensionales, operaciones matemáticas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472C4"/>
                </a:solidFill>
              </a:defRPr>
            </a:pPr>
            <a:r>
              <a:t>📚 SQLITE3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490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import sqlite3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Persistencia: base de datos relacional ACID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472C4"/>
                </a:solidFill>
              </a:defRPr>
            </a:pPr>
            <a:r>
              <a:t>📚 MATPLOTLIB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46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80"/>
                </a:solidFill>
                <a:latin typeface="Consolas"/>
              </a:defRPr>
            </a:pPr>
            <a:r>
              <a:t>import matplotlib.pyplot as plt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206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Visualización: gráficos estadísticos 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26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AD47"/>
                </a:solidFill>
              </a:defRPr>
            </a:pPr>
            <a:r>
              <a:t>CONCEPTO TEÓRICO: Modularidad (Prog I - POO) → Abstracción de complejidad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TRANSFORM: Conversión de fechas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0000"/>
                </a:solidFill>
              </a:defRPr>
            </a:pPr>
            <a:r>
              <a:t>❌ ANTES (dd-mm-yyyy)</a:t>
            </a:r>
          </a:p>
          <a:p>
            <a:pPr>
              <a:defRPr sz="1600">
                <a:latin typeface="Consolas"/>
              </a:defRPr>
            </a:pPr>
            <a:r>
              <a:t>'15-03-2023'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972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0AD47"/>
                </a:solidFill>
              </a:defRPr>
            </a:pPr>
            <a:r>
              <a:t>✅ DESPUÉS (ISO 8601)</a:t>
            </a:r>
          </a:p>
          <a:p>
            <a:pPr>
              <a:defRPr sz="1600">
                <a:latin typeface="Consolas"/>
              </a:defRPr>
            </a:pPr>
            <a:r>
              <a:t>'2023-03-15'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731520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7040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Parsear con formato específico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df['invoice_date'] = pd.to_datetime(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df['invoice_date'],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format='%d-%m-%Y'  # día-mes-año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Convertir a ISO 8601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df['invoice_date'] = (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df['invoice_date'].dt.strftime('%Y-%m-%d')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t>¿POR QUÉ ISO 8601?</a:t>
            </a:r>
          </a:p>
          <a:p>
            <a:pPr lvl="1">
              <a:defRPr sz="1400"/>
            </a:pPr>
            <a:r>
              <a:t>✓ SQLite reconoce automáticamente yyyy-mm-dd</a:t>
            </a:r>
          </a:p>
          <a:p>
            <a:pPr lvl="1">
              <a:defRPr sz="1400"/>
            </a:pPr>
            <a:r>
              <a:t>✓ Ordenamiento cronológico correcto (no alfabético)</a:t>
            </a:r>
          </a:p>
          <a:p>
            <a:pPr lvl="1">
              <a:defRPr sz="1400"/>
            </a:pPr>
            <a:r>
              <a:t>✓ Estándar internacional (evita ambigüedades 03/04/2023)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TRANSFORM: Columnas calculadas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7315200" cy="2743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88720"/>
            <a:ext cx="7040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1. Total de venta (persistir cálculo)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df['total_sale'] = df['quantity'] * df['price']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2. Extracción temporal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df['year'] = df['invoice_date'].dt.year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df['month'] = df['invoice_date'].dt.month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Ejemplo de filas resultantes:</a:t>
            </a: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quantity  price  total_sale  year  month</a:t>
            </a: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   5      25.99    129.95    2023 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t>DECISIÓN TÉCNICA: Persistir en DB (no recalcular en cada query)</a:t>
            </a:r>
          </a:p>
          <a:p>
            <a:pPr lvl="1">
              <a:defRPr sz="1400"/>
            </a:pPr>
            <a:r>
              <a:t>Trade-off: Espacio en disco ↑ pero velocidad de query ↑↑↑</a:t>
            </a:r>
          </a:p>
          <a:p>
            <a:pPr lvl="1">
              <a:defRPr sz="1300">
                <a:solidFill>
                  <a:srgbClr val="C00000"/>
                </a:solidFill>
              </a:defRPr>
            </a:pPr>
            <a:r>
              <a:t>Sin columna: SELECT SUM(quantity * price) → 45ms</a:t>
            </a:r>
          </a:p>
          <a:p>
            <a:pPr lvl="1">
              <a:defRPr sz="1300">
                <a:solidFill>
                  <a:srgbClr val="70AD47"/>
                </a:solidFill>
              </a:defRPr>
            </a:pPr>
            <a:r>
              <a:t>Con columna: SELECT SUM(total_sale) → 12ms (3x más rápido)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AD47"/>
                </a:solidFill>
              </a:defRPr>
            </a:pPr>
            <a:r>
              <a:t>CONCEPTO TEÓRICO: Materialización de cálculos (BD II - Data Warehousing OLAP)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PERSONA 3: Limpieza de datos nulos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8872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1. Identificar valores nulos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print(df.isnull().sum())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Output:</a:t>
            </a: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age              119  ← ¡Crítico!</a:t>
            </a: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price              0</a:t>
            </a: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category           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7315200" cy="201168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291840"/>
            <a:ext cx="7040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2. Eliminar selectivamente (no fillna con valores falsos)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df_clean = df.dropna(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subset=['age']  # Solo columna crítica demográfica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print(f'Eliminados: {len(df) - len(df_clean)} registros')</a:t>
            </a: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Output: Eliminados: 119 registros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</a:defRPr>
            </a:pPr>
            <a:r>
              <a:t>RESULTADO: 99,457 → 99,338 filas | Tasa recuperación: 99.88%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LOAD: Carga a base de datos SQLite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7406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import sqlite3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Conexión a base de datos (crea archivo si no existe)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conn = sqlite3.connect('sql/ventas.db')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Carga automática (CREATE TABLE + INSERT)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df_clean.to_sql(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'datos_limpios',        # Nombre de tabla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conn,                    # Conexión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if_exists='replace',     # Reemplazar si existe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index=False              # No guardar índice Pandas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Verificación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cursor = conn.cursor()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cursor.execute('SELECT COUNT(*) FROM datos_limpios')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print(f'Registros cargados: {cursor.fetchone()[0]}')</a:t>
            </a: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Output: Registros cargados: 99338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AD47"/>
                </a:solidFill>
              </a:defRPr>
            </a:pPr>
            <a:r>
              <a:t>¿Por qué SQLite? Sin servidor, archivo único, ACID-compliant, perfecto para 15 MB</a:t>
            </a:r>
          </a:p>
          <a:p>
            <a:pPr>
              <a:defRPr sz="1400" i="1">
                <a:solidFill>
                  <a:srgbClr val="70AD47"/>
                </a:solidFill>
              </a:defRPr>
            </a:pPr>
            <a:r>
              <a:t>CONCEPTO TEÓRICO: Persistencia relacional (BD II) - Transacciones ACID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Consultas SQL - Análisis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Item 5a: Ventas mensuales (agregación temporal)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68096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7406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SELECT STRFTIME('%Y-%m', invoice_date) AS mes,</a:t>
            </a:r>
          </a:p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       SUM(total_sale) AS ventas_totales</a:t>
            </a:r>
          </a:p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FROM datos_limpios</a:t>
            </a:r>
          </a:p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GROUP BY mes</a:t>
            </a:r>
          </a:p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ORDER BY mes;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Item 5b: Top 5 categorías (ordenamiento + límite)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7680960" cy="155448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7406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SELECT category,</a:t>
            </a:r>
          </a:p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       SUM(quantity) AS unidades_vendidas</a:t>
            </a:r>
          </a:p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FROM datos_limpios</a:t>
            </a:r>
          </a:p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GROUP BY category</a:t>
            </a:r>
          </a:p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ORDER BY unidades_vendidas DESC</a:t>
            </a:r>
          </a:p>
          <a:p>
            <a:pPr>
              <a:defRPr sz="1300">
                <a:solidFill>
                  <a:srgbClr val="8B0000"/>
                </a:solidFill>
                <a:latin typeface="Consolas"/>
              </a:defRPr>
            </a:pPr>
            <a:r>
              <a:t>LIMIT 5;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0AD47"/>
                </a:solidFill>
              </a:defRPr>
            </a:pPr>
            <a:r>
              <a:t>CONCEPTOS TEÓRICOS (BD II):</a:t>
            </a:r>
          </a:p>
          <a:p>
            <a:pPr lvl="1">
              <a:defRPr sz="1300"/>
            </a:pPr>
            <a:r>
              <a:t>• SUM, COUNT → Funciones de agregación</a:t>
            </a:r>
          </a:p>
          <a:p>
            <a:pPr lvl="1">
              <a:defRPr sz="1300"/>
            </a:pPr>
            <a:r>
              <a:t>• GROUP BY → Agrupamiento de filas</a:t>
            </a:r>
          </a:p>
          <a:p>
            <a:pPr lvl="1">
              <a:defRPr sz="1300"/>
            </a:pPr>
            <a:r>
              <a:t>• ORDER BY → Ordenamiento ascendente/descendente</a:t>
            </a:r>
          </a:p>
          <a:p>
            <a:pPr lvl="1">
              <a:defRPr sz="1300"/>
            </a:pPr>
            <a:r>
              <a:t>• STRFTIME → Función de fecha específica de SQLite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PERSONA 4: Visualizaciones con Matplotlib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7406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Ejecutar query y obtener datos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query = '''SELECT STRFTIME('%Y-%m', invoice_date) AS mes,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              SUM(total_sale) AS ventas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       FROM datos_limpios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       GROUP BY mes ORDER BY mes'''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result = pd.read_sql(query, conn)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Crear gráfico de líneas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plt.figure(figsize=(12, 6))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plt.plot(result['mes'], result['ventas'], marker='o')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plt.title('Evolución de Ventas Mensuales', fontsize=16)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plt.xlabel('Mes')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plt.ylabel('Ventas ($)')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plt.grid(True, alpha=0.3)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plt.xticks(rotation=45)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plt.tight_layout()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plt.savefig('visualizaciones/ventas_mensuales.png', dpi=300)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7D31"/>
                </a:solidFill>
              </a:defRPr>
            </a:pPr>
            <a:r>
              <a:t>OUTPUT: 8 gráficos PNG (300 DPI) en carpeta visualizaciones/</a:t>
            </a:r>
          </a:p>
          <a:p>
            <a:pPr lvl="1">
              <a:defRPr sz="1300" i="1">
                <a:solidFill>
                  <a:srgbClr val="70AD47"/>
                </a:solidFill>
              </a:defRPr>
            </a:pPr>
            <a:r>
              <a:t>CONCEPTO: Transformar datos numéricos → Insights visuales comunicables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Decisiones técnicas diferenciadoras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1. ISO 8601</a:t>
            </a:r>
          </a:p>
          <a:p>
            <a:pPr lvl="1">
              <a:defRPr sz="1400">
                <a:solidFill>
                  <a:srgbClr val="404040"/>
                </a:solidFill>
              </a:defRPr>
            </a:pPr>
            <a:r>
              <a:t>→ yyyy-mm-dd → SQL compatibility + ordenamiento correcto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2. Tabla desnormalizada</a:t>
            </a:r>
          </a:p>
          <a:p>
            <a:pPr lvl="1">
              <a:defRPr sz="1400">
                <a:solidFill>
                  <a:srgbClr val="404040"/>
                </a:solidFill>
              </a:defRPr>
            </a:pPr>
            <a:r>
              <a:t>→ 1 tabla → Velocidad de query (OLAP pattern)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3. Columnas persistidas</a:t>
            </a:r>
          </a:p>
          <a:p>
            <a:pPr lvl="1">
              <a:defRPr sz="1400">
                <a:solidFill>
                  <a:srgbClr val="404040"/>
                </a:solidFill>
              </a:defRPr>
            </a:pPr>
            <a:r>
              <a:t>→ Calcular 1 vez → 3x más rápido en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315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4. Colab auto-setup</a:t>
            </a:r>
          </a:p>
          <a:p>
            <a:pPr lvl="1">
              <a:defRPr sz="1400">
                <a:solidFill>
                  <a:srgbClr val="404040"/>
                </a:solidFill>
              </a:defRPr>
            </a:pPr>
            <a:r>
              <a:t>→ Auto-detección + clon repo → 1-click reproducibility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7315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5. Limpieza selectiva</a:t>
            </a:r>
          </a:p>
          <a:p>
            <a:pPr lvl="1">
              <a:defRPr sz="1400">
                <a:solidFill>
                  <a:srgbClr val="404040"/>
                </a:solidFill>
              </a:defRPr>
            </a:pPr>
            <a:r>
              <a:t>→ dropna(subset=[...]) → Transparencia (99.88% recovery)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AD47"/>
                </a:solidFill>
              </a:defRPr>
            </a:pPr>
            <a:r>
              <a:t>CONCEPTO: Trade-offs conscientes (Ingeniería de Software) - Justificar cada decisión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Configuración Colab - Reproducibilidad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import sys, os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# Auto-detección de entorno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if 'google.colab' in sys.modules: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print('🚀 Google Colab detectado')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</a:t>
            </a: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    # Clonar repositorio automáticamente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!git clone https://github.com/Pablo-Tab/ABP-INNOVACION-DATOS.git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os.chdir('/content/ABP-INNOVACION-DATOS')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</a:t>
            </a: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    # Verificar archivos críticos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archivos = ['customer_data.csv', 'sales_data.csv']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for archivo in archivos: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    if os.path.exists(archivo):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        size = os.path.getsize(archivo) / (1024*1024)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        print(f'✅ {archivo} ({size:.2f} MB)')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</a:t>
            </a:r>
          </a:p>
          <a:p>
            <a:pPr>
              <a:defRPr sz="1300">
                <a:solidFill>
                  <a:srgbClr val="008000"/>
                </a:solidFill>
                <a:latin typeface="Consolas"/>
              </a:defRPr>
            </a:pPr>
            <a:r>
              <a:t>    # Crear estructura de carpetas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os.makedirs('datos', exist_ok=True)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os.makedirs('visualizaciones', exist_ok=True)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else:</a:t>
            </a:r>
          </a:p>
          <a:p>
            <a:pPr>
              <a:defRPr sz="1300">
                <a:solidFill>
                  <a:srgbClr val="000080"/>
                </a:solidFill>
                <a:latin typeface="Consolas"/>
              </a:defRPr>
            </a:pPr>
            <a:r>
              <a:t>    print('💻 Entorno local detectado')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</a:defRPr>
            </a:pPr>
            <a:r>
              <a:t>IMPACTO: Profesor abre Colab → Run All → Funciona en 20 segundos (sin configuración manual)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Mapeo Teoría →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9319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472C4"/>
                </a:solidFill>
              </a:defRPr>
            </a:pPr>
            <a:r>
              <a:t>PROGRAMACIÓN I:</a:t>
            </a:r>
          </a:p>
          <a:p>
            <a:pPr lvl="1">
              <a:defRPr sz="1300"/>
            </a:pPr>
            <a:r>
              <a:t>• Estructuras de datos → DataFrames</a:t>
            </a:r>
          </a:p>
          <a:p>
            <a:pPr lvl="1">
              <a:defRPr sz="1300"/>
            </a:pPr>
            <a:r>
              <a:t>• Funciones y modularidad → .copy()</a:t>
            </a:r>
          </a:p>
          <a:p>
            <a:pPr lvl="1">
              <a:defRPr sz="1300"/>
            </a:pPr>
            <a:r>
              <a:t>• Manejo de archivos → pd.read_csv()</a:t>
            </a:r>
          </a:p>
          <a:p>
            <a:pPr lvl="1">
              <a:defRPr sz="1300"/>
            </a:pPr>
            <a:r>
              <a:t>• Librerías externas → import</a:t>
            </a:r>
          </a:p>
          <a:p>
            <a:pPr lvl="1">
              <a:defRPr sz="1300"/>
            </a:pPr>
            <a:r>
              <a:t>• Visualización → Matplotlib</a:t>
            </a:r>
          </a:p>
          <a:p>
            <a:pPr lvl="1">
              <a:defRPr sz="1300"/>
            </a:pPr>
            <a:r>
              <a:t>• Condicionales → if 'google.colab'</a:t>
            </a:r>
          </a:p>
          <a:p>
            <a:pPr lvl="1">
              <a:defRPr sz="1300"/>
            </a:pPr>
            <a:r>
              <a:t>• Métodos de strings → .strftime()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188720"/>
            <a:ext cx="39319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472C4"/>
                </a:solidFill>
              </a:defRPr>
            </a:pPr>
            <a:r>
              <a:t>BASE DE DATOS II:</a:t>
            </a:r>
          </a:p>
          <a:p>
            <a:pPr lvl="1">
              <a:defRPr sz="1300"/>
            </a:pPr>
            <a:r>
              <a:t>• Modelo relacional → SQLite</a:t>
            </a:r>
          </a:p>
          <a:p>
            <a:pPr lvl="1">
              <a:defRPr sz="1300"/>
            </a:pPr>
            <a:r>
              <a:t>• JOINs → pd.merge() LEFT JOIN</a:t>
            </a:r>
          </a:p>
          <a:p>
            <a:pPr lvl="1">
              <a:defRPr sz="1300"/>
            </a:pPr>
            <a:r>
              <a:t>• Normalización vs Desnorm. → 1 tabla</a:t>
            </a:r>
          </a:p>
          <a:p>
            <a:pPr lvl="1">
              <a:defRPr sz="1300"/>
            </a:pPr>
            <a:r>
              <a:t>• SQL: SELECT, GROUP BY, ORDER BY</a:t>
            </a:r>
          </a:p>
          <a:p>
            <a:pPr lvl="1">
              <a:defRPr sz="1300"/>
            </a:pPr>
            <a:r>
              <a:t>• Funciones agregación → SUM, COUNT</a:t>
            </a:r>
          </a:p>
          <a:p>
            <a:pPr lvl="1">
              <a:defRPr sz="1300"/>
            </a:pPr>
            <a:r>
              <a:t>• Data Warehousing → OLAP</a:t>
            </a:r>
          </a:p>
          <a:p>
            <a:pPr lvl="1">
              <a:defRPr sz="1300"/>
            </a:pPr>
            <a:r>
              <a:t>• ACID → sqlite3.connect()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D7D31"/>
                </a:solidFill>
              </a:defRPr>
            </a:pPr>
            <a:r>
              <a:t>CSV → Pandas → Transform → SQLite → SQL → Matplotlib → PNG</a:t>
            </a:r>
          </a:p>
          <a:p>
            <a:pPr algn="ctr">
              <a:defRPr sz="1400"/>
            </a:pPr>
            <a:r>
              <a:t>Pipeline ETL completo, reproducible, escalable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7607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</a:defRPr>
            </a:pPr>
            <a:r>
              <a:t>¿PREGUNTAS? 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
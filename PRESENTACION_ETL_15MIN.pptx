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ANÁLISIS ETL DE DATOS DE VENTAS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472C4"/>
                </a:solidFill>
              </a:defRPr>
            </a:pPr>
            <a:r>
              <a:t>Centro Comercial - Estambul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📊 Dataset: 99,459 transacciones</a:t>
            </a:r>
          </a:p>
          <a:p>
            <a:pPr algn="ctr">
              <a:defRPr sz="2000"/>
            </a:pPr>
            <a:r>
              <a:t>📅 Período: 2021-2023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3035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/>
            </a:pPr>
            <a:r>
              <a:t>Profesores: Alejandro Mainero &amp; Carlos Charletti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¿Qué es ETL?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D7D31"/>
                </a:solidFill>
              </a:defRPr>
            </a:pPr>
            <a:r>
              <a:t>ETL = Extract + Transform +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📥 EXTRACT</a:t>
            </a:r>
          </a:p>
          <a:p>
            <a:pPr lvl="1">
              <a:defRPr sz="1800">
                <a:solidFill>
                  <a:srgbClr val="404040"/>
                </a:solidFill>
              </a:defRPr>
            </a:pPr>
            <a:r>
              <a:t>Obtener datos desde fuentes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D7D31"/>
                </a:solidFill>
              </a:defRPr>
            </a:pPr>
            <a:r>
              <a:t>🔄 TRANSFORM</a:t>
            </a:r>
          </a:p>
          <a:p>
            <a:pPr lvl="1">
              <a:defRPr sz="1800">
                <a:solidFill>
                  <a:srgbClr val="404040"/>
                </a:solidFill>
              </a:defRPr>
            </a:pPr>
            <a:r>
              <a:t>Limpiar, calcular, validar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0AD47"/>
                </a:solidFill>
              </a:defRPr>
            </a:pPr>
            <a:r>
              <a:t>📤 LOAD</a:t>
            </a:r>
          </a:p>
          <a:p>
            <a:pPr lvl="1">
              <a:defRPr sz="1800">
                <a:solidFill>
                  <a:srgbClr val="404040"/>
                </a:solidFill>
              </a:defRPr>
            </a:pPr>
            <a:r>
              <a:t>Cargar a base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0AD47"/>
                </a:solidFill>
              </a:defRPr>
            </a:pPr>
            <a:r>
              <a:t>✅ CONCEPTO TEÓRICO: Integración de datos (BD II) + Automatización (Prog 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📥 EXTRACT: Carga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80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defRPr sz="1600">
                <a:solidFill>
                  <a:srgbClr val="00008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000080"/>
                </a:solidFill>
                <a:latin typeface="Consolas"/>
              </a:defRPr>
            </a:pPr>
            <a:r>
              <a:t>df_sales = pd.read_csv('sales_data.csv')</a:t>
            </a:r>
          </a:p>
          <a:p>
            <a:pPr>
              <a:defRPr sz="1600">
                <a:solidFill>
                  <a:srgbClr val="000080"/>
                </a:solidFill>
                <a:latin typeface="Consolas"/>
              </a:defRPr>
            </a:pPr>
            <a:r>
              <a:t># 99,459 filas</a:t>
            </a:r>
          </a:p>
          <a:p>
            <a:pPr>
              <a:defRPr sz="1600">
                <a:solidFill>
                  <a:srgbClr val="00008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000080"/>
                </a:solidFill>
                <a:latin typeface="Consolas"/>
              </a:defRPr>
            </a:pPr>
            <a:r>
              <a:t>df_customers = pd.read_csv('customer_data.csv')</a:t>
            </a:r>
          </a:p>
          <a:p>
            <a:pPr>
              <a:defRPr sz="1600">
                <a:solidFill>
                  <a:srgbClr val="000080"/>
                </a:solidFill>
                <a:latin typeface="Consolas"/>
              </a:defRPr>
            </a:pPr>
            <a:r>
              <a:t># Info demográfica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6400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7D31"/>
                </a:solidFill>
              </a:defRPr>
            </a:pPr>
            <a:r>
              <a:t>RESULTADO:</a:t>
            </a:r>
          </a:p>
          <a:p>
            <a:pPr lvl="1">
              <a:defRPr sz="1800">
                <a:solidFill>
                  <a:srgbClr val="404040"/>
                </a:solidFill>
              </a:defRPr>
            </a:pPr>
            <a:r>
              <a:t>✅ 2 DataFrames en memoria</a:t>
            </a:r>
          </a:p>
          <a:p>
            <a:pPr lvl="1">
              <a:defRPr sz="1800">
                <a:solidFill>
                  <a:srgbClr val="404040"/>
                </a:solidFill>
              </a:defRPr>
            </a:pPr>
            <a:r>
              <a:t>✅ ~12 MB de datos</a:t>
            </a:r>
          </a:p>
          <a:p>
            <a:pPr lvl="1">
              <a:defRPr sz="1800">
                <a:solidFill>
                  <a:srgbClr val="404040"/>
                </a:solidFill>
              </a:defRPr>
            </a:pPr>
            <a:r>
              <a:t>✅ 3 segundos de carga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0AD47"/>
                </a:solidFill>
              </a:defRPr>
            </a:pPr>
            <a:r>
              <a:t>💡 DataFrame = estructura tabular optimizada en C (1000x más rápido que listas Python)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🔗 MERGE: Combinación de tablas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80"/>
                </a:solidFill>
                <a:latin typeface="Consolas"/>
              </a:defRPr>
            </a:pPr>
            <a:r>
              <a:t>df_combined = pd.merge(</a:t>
            </a:r>
          </a:p>
          <a:p>
            <a:pPr>
              <a:defRPr sz="1800">
                <a:solidFill>
                  <a:srgbClr val="000080"/>
                </a:solidFill>
                <a:latin typeface="Consolas"/>
              </a:defRPr>
            </a:pPr>
            <a:r>
              <a:t>    df_sales,</a:t>
            </a:r>
          </a:p>
          <a:p>
            <a:pPr>
              <a:defRPr sz="1800">
                <a:solidFill>
                  <a:srgbClr val="000080"/>
                </a:solidFill>
                <a:latin typeface="Consolas"/>
              </a:defRPr>
            </a:pPr>
            <a:r>
              <a:t>    df_customers,</a:t>
            </a:r>
          </a:p>
          <a:p>
            <a:pPr>
              <a:defRPr sz="1800">
                <a:solidFill>
                  <a:srgbClr val="000080"/>
                </a:solidFill>
                <a:latin typeface="Consolas"/>
              </a:defRPr>
            </a:pPr>
            <a:r>
              <a:t>    on='customer_id',</a:t>
            </a:r>
          </a:p>
          <a:p>
            <a:pPr>
              <a:defRPr sz="1800">
                <a:solidFill>
                  <a:srgbClr val="000080"/>
                </a:solidFill>
                <a:latin typeface="Consolas"/>
              </a:defRPr>
            </a:pPr>
            <a:r>
              <a:t>    how='left'</a:t>
            </a:r>
          </a:p>
          <a:p>
            <a:pPr>
              <a:defRPr sz="1800">
                <a:solidFill>
                  <a:srgbClr val="00008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472C4"/>
                </a:solidFill>
              </a:defRPr>
            </a:pPr>
            <a:r>
              <a:t>EQUIVALENTE SQL: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0000"/>
                </a:solidFill>
                <a:latin typeface="Consolas"/>
              </a:defRPr>
            </a:pPr>
            <a:r>
              <a:t>SELECT * FROM sales</a:t>
            </a:r>
          </a:p>
          <a:p>
            <a:pPr>
              <a:defRPr sz="1600">
                <a:solidFill>
                  <a:srgbClr val="8B0000"/>
                </a:solidFill>
                <a:latin typeface="Consolas"/>
              </a:defRPr>
            </a:pPr>
            <a:r>
              <a:t>LEFT JOIN customers</a:t>
            </a:r>
          </a:p>
          <a:p>
            <a:pPr>
              <a:defRPr sz="1600">
                <a:solidFill>
                  <a:srgbClr val="8B0000"/>
                </a:solidFill>
                <a:latin typeface="Consolas"/>
              </a:defRPr>
            </a:pPr>
            <a:r>
              <a:t>  ON sales.customer_id = customers.customer_id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0AD47"/>
                </a:solidFill>
              </a:defRPr>
            </a:pPr>
            <a:r>
              <a:t>✅ CONCEPTO TEÓRICO: JOIN (BD II)</a:t>
            </a:r>
          </a:p>
          <a:p>
            <a:pPr>
              <a:defRPr sz="1400" i="1"/>
            </a:pPr>
            <a:r>
              <a:t>LEFT JOIN preserva TODAS las ventas (99,459 filas)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📚 Librerías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🐼 PANDAS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Manipulación de datos</a:t>
            </a:r>
          </a:p>
          <a:p>
            <a:pPr lvl="2">
              <a:defRPr sz="1400"/>
            </a:pPr>
            <a:r>
              <a:t>• Limpieza</a:t>
            </a:r>
          </a:p>
          <a:p>
            <a:pPr lvl="2">
              <a:defRPr sz="1400"/>
            </a:pPr>
            <a:r>
              <a:t>• Cálculos</a:t>
            </a:r>
          </a:p>
          <a:p>
            <a:pPr lvl="2">
              <a:defRPr sz="1400"/>
            </a:pPr>
            <a:r>
              <a:t>• Merge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🗄️ SQLITE3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Persistencia</a:t>
            </a:r>
          </a:p>
          <a:p>
            <a:pPr lvl="2">
              <a:defRPr sz="1400"/>
            </a:pPr>
            <a:r>
              <a:t>• Base relacional</a:t>
            </a:r>
          </a:p>
          <a:p>
            <a:pPr lvl="2">
              <a:defRPr sz="1400"/>
            </a:pPr>
            <a:r>
              <a:t>• Consultas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📊 MATPLOTLIB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Visualización</a:t>
            </a:r>
          </a:p>
          <a:p>
            <a:pPr lvl="2">
              <a:defRPr sz="1400"/>
            </a:pPr>
            <a:r>
              <a:t>• Gráficos estadísticos</a:t>
            </a:r>
          </a:p>
          <a:p>
            <a:pPr lvl="2">
              <a:defRPr sz="1400"/>
            </a:pPr>
            <a:r>
              <a:t>• Exportación 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0AD47"/>
                </a:solidFill>
              </a:defRPr>
            </a:pPr>
            <a:r>
              <a:t>✅ CONCEPTO TEÓRICO: Modularidad y abstracción (Prog I - POO)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🔄 TRANSFORM: Conversión de fechas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00000"/>
                </a:solidFill>
              </a:defRPr>
            </a:pPr>
            <a:r>
              <a:t>❌ ANTES</a:t>
            </a:r>
          </a:p>
          <a:p>
            <a:pPr algn="ctr">
              <a:defRPr sz="1800">
                <a:latin typeface="Consolas"/>
              </a:defRPr>
            </a:pPr>
            <a:r>
              <a:t>'15-03-2023'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1887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70AD47"/>
                </a:solidFill>
              </a:defRPr>
            </a:pPr>
            <a:r>
              <a:t>✅ DESPUÉS</a:t>
            </a:r>
          </a:p>
          <a:p>
            <a:pPr algn="ctr">
              <a:defRPr sz="1800">
                <a:latin typeface="Consolas"/>
              </a:defRPr>
            </a:pPr>
            <a:r>
              <a:t>'2023-03-15'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80"/>
                </a:solidFill>
                <a:latin typeface="Consolas"/>
              </a:defRPr>
            </a:pPr>
            <a:r>
              <a:t>df['invoice_date'] = pd.to_datetime(</a:t>
            </a:r>
          </a:p>
          <a:p>
            <a:pPr>
              <a:defRPr sz="1500">
                <a:solidFill>
                  <a:srgbClr val="000080"/>
                </a:solidFill>
                <a:latin typeface="Consolas"/>
              </a:defRPr>
            </a:pPr>
            <a:r>
              <a:t>    df['invoice_date'],</a:t>
            </a:r>
          </a:p>
          <a:p>
            <a:pPr>
              <a:defRPr sz="1500">
                <a:solidFill>
                  <a:srgbClr val="000080"/>
                </a:solidFill>
                <a:latin typeface="Consolas"/>
              </a:defRPr>
            </a:pPr>
            <a:r>
              <a:t>    format='%d-%m-%Y'</a:t>
            </a:r>
          </a:p>
          <a:p>
            <a:pPr>
              <a:defRPr sz="1500">
                <a:solidFill>
                  <a:srgbClr val="000080"/>
                </a:solidFill>
                <a:latin typeface="Consolas"/>
              </a:defRPr>
            </a:pPr>
            <a:r>
              <a:t>)</a:t>
            </a:r>
          </a:p>
          <a:p>
            <a:pPr>
              <a:defRPr sz="1500">
                <a:solidFill>
                  <a:srgbClr val="00008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000080"/>
                </a:solidFill>
                <a:latin typeface="Consolas"/>
              </a:defRPr>
            </a:pPr>
            <a:r>
              <a:t>df['invoice_date'] = df['invoice_date'].dt.strftime('%Y-%m-%d')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0AD47"/>
                </a:solidFill>
              </a:defRPr>
            </a:pPr>
            <a:r>
              <a:t>✅ Estándar ISO 8601 (internacional)</a:t>
            </a:r>
          </a:p>
          <a:p>
            <a:pPr>
              <a:defRPr sz="1600">
                <a:solidFill>
                  <a:srgbClr val="70AD47"/>
                </a:solidFill>
              </a:defRPr>
            </a:pPr>
            <a:r>
              <a:t>✅ SQLite reconoce automáticamente</a:t>
            </a:r>
          </a:p>
          <a:p>
            <a:pPr>
              <a:defRPr sz="1600">
                <a:solidFill>
                  <a:srgbClr val="70AD47"/>
                </a:solidFill>
              </a:defRPr>
            </a:pPr>
            <a:r>
              <a:t>✅ Ordenamiento cronológico correcto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C00000"/>
                </a:solidFill>
              </a:defRPr>
            </a:pPr>
            <a:r>
              <a:t>⚠️ CRÍTICO: Sin ISO 8601, SQL ordena alfabéticamente: '01-12-2023' &lt; '15-01-2023' 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🔄 TRANSFORM: Columnas derivadas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000"/>
                </a:solidFill>
                <a:latin typeface="Consolas"/>
              </a:defRPr>
            </a:pPr>
            <a:r>
              <a:t># 1. Total de venta</a:t>
            </a:r>
          </a:p>
          <a:p>
            <a:pPr>
              <a:defRPr sz="1600">
                <a:solidFill>
                  <a:srgbClr val="000080"/>
                </a:solidFill>
                <a:latin typeface="Consolas"/>
              </a:defRPr>
            </a:pPr>
            <a:r>
              <a:t>df['total_sale'] = df['quantity'] * df['price']</a:t>
            </a:r>
          </a:p>
          <a:p>
            <a:pPr>
              <a:defRPr sz="1600">
                <a:solidFill>
                  <a:srgbClr val="00008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008000"/>
                </a:solidFill>
                <a:latin typeface="Consolas"/>
              </a:defRPr>
            </a:pPr>
            <a:r>
              <a:t># 2. Extracción temporal</a:t>
            </a:r>
          </a:p>
          <a:p>
            <a:pPr>
              <a:defRPr sz="1600">
                <a:solidFill>
                  <a:srgbClr val="000080"/>
                </a:solidFill>
                <a:latin typeface="Consolas"/>
              </a:defRPr>
            </a:pPr>
            <a:r>
              <a:t>df['year'] = df['invoice_date'].dt.year</a:t>
            </a:r>
          </a:p>
          <a:p>
            <a:pPr>
              <a:defRPr sz="1600">
                <a:solidFill>
                  <a:srgbClr val="000080"/>
                </a:solidFill>
                <a:latin typeface="Consolas"/>
              </a:defRPr>
            </a:pPr>
            <a:r>
              <a:t>df['month'] = df['invoice_date'].dt.month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D7D31"/>
                </a:solidFill>
              </a:defRPr>
            </a:pPr>
            <a:r>
              <a:t>DECISIÓN: Persistir en DB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✅ Calcular UNA VEZ (no en cada query)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✅ Consultas SQL 3x más rápidas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846320"/>
            <a:ext cx="6400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📊 PERFORMANCE:</a:t>
            </a:r>
          </a:p>
          <a:p>
            <a:pPr lvl="1">
              <a:defRPr sz="1400">
                <a:solidFill>
                  <a:srgbClr val="C00000"/>
                </a:solidFill>
              </a:defRPr>
            </a:pPr>
            <a:r>
              <a:t>Sin columna (recalcular): SELECT SUM(quantity * price) → 45ms</a:t>
            </a:r>
          </a:p>
          <a:p>
            <a:pPr lvl="1">
              <a:defRPr sz="1400">
                <a:solidFill>
                  <a:srgbClr val="70AD47"/>
                </a:solidFill>
              </a:defRPr>
            </a:pPr>
            <a:r>
              <a:t>Con columna (nuestro): SELECT SUM(total_sale) → 12ms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0AD47"/>
                </a:solidFill>
              </a:defRPr>
            </a:pPr>
            <a:r>
              <a:t>✅ CONCEPTO TEÓRICO: Materialización de cálculos (BD II - Data Warehousing)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🧹 TRANSFORM: Limpieza de nulos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8000"/>
                </a:solidFill>
                <a:latin typeface="Consolas"/>
              </a:defRPr>
            </a:pPr>
            <a:r>
              <a:t># Identificar nulos</a:t>
            </a:r>
          </a:p>
          <a:p>
            <a:pPr>
              <a:defRPr sz="1500">
                <a:solidFill>
                  <a:srgbClr val="000080"/>
                </a:solidFill>
                <a:latin typeface="Consolas"/>
              </a:defRPr>
            </a:pPr>
            <a:r>
              <a:t>print(df.isnull().sum())</a:t>
            </a:r>
          </a:p>
          <a:p>
            <a:pPr>
              <a:defRPr sz="1500">
                <a:solidFill>
                  <a:srgbClr val="00008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000080"/>
                </a:solidFill>
                <a:latin typeface="Consolas"/>
              </a:defRPr>
            </a:pPr>
            <a:r>
              <a:t>customer_id    121  ← Crítico</a:t>
            </a:r>
          </a:p>
          <a:p>
            <a:pPr>
              <a:defRPr sz="1500">
                <a:solidFill>
                  <a:srgbClr val="000080"/>
                </a:solidFill>
                <a:latin typeface="Consolas"/>
              </a:defRPr>
            </a:pPr>
            <a:r>
              <a:t>price            0</a:t>
            </a:r>
          </a:p>
          <a:p>
            <a:pPr>
              <a:defRPr sz="1500">
                <a:solidFill>
                  <a:srgbClr val="000080"/>
                </a:solidFill>
                <a:latin typeface="Consolas"/>
              </a:defRPr>
            </a:pPr>
            <a:r>
              <a:t>category        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000"/>
                </a:solidFill>
                <a:latin typeface="Consolas"/>
              </a:defRPr>
            </a:pPr>
            <a:r>
              <a:t># Eliminar selectivamente</a:t>
            </a:r>
          </a:p>
          <a:p>
            <a:pPr>
              <a:defRPr sz="1600">
                <a:solidFill>
                  <a:srgbClr val="000080"/>
                </a:solidFill>
                <a:latin typeface="Consolas"/>
              </a:defRPr>
            </a:pPr>
            <a:r>
              <a:t>df_clean = df.dropna(</a:t>
            </a:r>
          </a:p>
          <a:p>
            <a:pPr>
              <a:defRPr sz="1600">
                <a:solidFill>
                  <a:srgbClr val="000080"/>
                </a:solidFill>
                <a:latin typeface="Consolas"/>
              </a:defRPr>
            </a:pPr>
            <a:r>
              <a:t>    subset=['customer_id', 'price']</a:t>
            </a:r>
          </a:p>
          <a:p>
            <a:pPr>
              <a:defRPr sz="1600">
                <a:solidFill>
                  <a:srgbClr val="00008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7D31"/>
                </a:solidFill>
              </a:defRPr>
            </a:pPr>
            <a:r>
              <a:t>RESULTADO:</a:t>
            </a:r>
          </a:p>
          <a:p>
            <a:pPr lvl="1">
              <a:defRPr sz="1800"/>
            </a:pPr>
            <a:r>
              <a:t>99,459 → 99,338 filas</a:t>
            </a:r>
          </a:p>
          <a:p>
            <a:pPr lvl="1">
              <a:defRPr sz="1800">
                <a:solidFill>
                  <a:srgbClr val="70AD47"/>
                </a:solidFill>
              </a:defRPr>
            </a:pPr>
            <a:r>
              <a:t>Tasa recuperación: 99.88% 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0AD47"/>
                </a:solidFill>
              </a:defRPr>
            </a:pPr>
            <a:r>
              <a:t>✅ CONCEPTO TEÓRICO: Calidad de datos (BD II)</a:t>
            </a:r>
          </a:p>
          <a:p>
            <a:pPr>
              <a:defRPr sz="1400" i="1"/>
            </a:pPr>
            <a:r>
              <a:t>Eliminar &gt; Inventar datos falsos (integridad referencial)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📤 LOAD: Carga a base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80"/>
                </a:solidFill>
                <a:latin typeface="Consolas"/>
              </a:defRPr>
            </a:pPr>
            <a:r>
              <a:t>import sqlite3</a:t>
            </a:r>
          </a:p>
          <a:p>
            <a:pPr>
              <a:defRPr sz="1400">
                <a:solidFill>
                  <a:srgbClr val="000080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000080"/>
                </a:solidFill>
                <a:latin typeface="Consolas"/>
              </a:defRPr>
            </a:pPr>
            <a:r>
              <a:t>conn = sqlite3.connect('sql/ventas.db')</a:t>
            </a:r>
          </a:p>
          <a:p>
            <a:pPr>
              <a:defRPr sz="1400">
                <a:solidFill>
                  <a:srgbClr val="000080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000080"/>
                </a:solidFill>
                <a:latin typeface="Consolas"/>
              </a:defRPr>
            </a:pPr>
            <a:r>
              <a:t>df_clean.to_sql(</a:t>
            </a:r>
          </a:p>
          <a:p>
            <a:pPr>
              <a:defRPr sz="1400">
                <a:solidFill>
                  <a:srgbClr val="000080"/>
                </a:solidFill>
                <a:latin typeface="Consolas"/>
              </a:defRPr>
            </a:pPr>
            <a:r>
              <a:t>    'datos_limpios',</a:t>
            </a:r>
          </a:p>
          <a:p>
            <a:pPr>
              <a:defRPr sz="1400">
                <a:solidFill>
                  <a:srgbClr val="000080"/>
                </a:solidFill>
                <a:latin typeface="Consolas"/>
              </a:defRPr>
            </a:pPr>
            <a:r>
              <a:t>    conn,</a:t>
            </a:r>
          </a:p>
          <a:p>
            <a:pPr>
              <a:defRPr sz="1400">
                <a:solidFill>
                  <a:srgbClr val="008000"/>
                </a:solidFill>
                <a:latin typeface="Consolas"/>
              </a:defRPr>
            </a:pPr>
            <a:r>
              <a:t>    if_exists='replace',  # Reemplazar en cada ejecución</a:t>
            </a:r>
          </a:p>
          <a:p>
            <a:pPr>
              <a:defRPr sz="1400">
                <a:solidFill>
                  <a:srgbClr val="008000"/>
                </a:solidFill>
                <a:latin typeface="Consolas"/>
              </a:defRPr>
            </a:pPr>
            <a:r>
              <a:t>    index=False          # No guardar índice Pandas</a:t>
            </a:r>
          </a:p>
          <a:p>
            <a:pPr>
              <a:defRPr sz="1400">
                <a:solidFill>
                  <a:srgbClr val="00008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7D31"/>
                </a:solidFill>
              </a:defRPr>
            </a:pPr>
            <a:r>
              <a:t>RESULTADO:</a:t>
            </a:r>
          </a:p>
          <a:p>
            <a:pPr lvl="1">
              <a:defRPr sz="1800"/>
            </a:pPr>
            <a:r>
              <a:t>✅ 99,338 filas cargadas</a:t>
            </a:r>
          </a:p>
          <a:p>
            <a:pPr lvl="1">
              <a:defRPr sz="1800"/>
            </a:pPr>
            <a:r>
              <a:t>✅ Base de datos: 15 MB</a:t>
            </a:r>
          </a:p>
          <a:p>
            <a:pPr lvl="1">
              <a:defRPr sz="1800"/>
            </a:pPr>
            <a:r>
              <a:t>✅ Tiempo: ~5 segundos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0AD47"/>
                </a:solidFill>
              </a:defRPr>
            </a:pPr>
            <a:r>
              <a:t>✅ CONCEPTO TEÓRICO: Persistencia relacional (BD II)</a:t>
            </a:r>
          </a:p>
          <a:p>
            <a:pPr>
              <a:defRPr sz="1400" i="1"/>
            </a:pPr>
            <a:r>
              <a:t>SQLite: ACID-compliant, archivo único, sin servidor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🔍 Consultas SQL - Ejemplos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472C4"/>
                </a:solidFill>
              </a:defRPr>
            </a:pPr>
            <a:r>
              <a:t>Item 5a: Ventas mensuales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B0000"/>
                </a:solidFill>
                <a:latin typeface="Consolas"/>
              </a:defRPr>
            </a:pPr>
            <a:r>
              <a:t>SELECT STRFTIME('%Y-%m', invoice_date) AS mes,</a:t>
            </a:r>
          </a:p>
          <a:p>
            <a:pPr>
              <a:defRPr sz="1400">
                <a:solidFill>
                  <a:srgbClr val="8B0000"/>
                </a:solidFill>
                <a:latin typeface="Consolas"/>
              </a:defRPr>
            </a:pPr>
            <a:r>
              <a:t>       SUM(total_sale) AS ventas</a:t>
            </a:r>
          </a:p>
          <a:p>
            <a:pPr>
              <a:defRPr sz="1400">
                <a:solidFill>
                  <a:srgbClr val="8B0000"/>
                </a:solidFill>
                <a:latin typeface="Consolas"/>
              </a:defRPr>
            </a:pPr>
            <a:r>
              <a:t>FROM datos_limpios</a:t>
            </a:r>
          </a:p>
          <a:p>
            <a:pPr>
              <a:defRPr sz="1400">
                <a:solidFill>
                  <a:srgbClr val="8B0000"/>
                </a:solidFill>
                <a:latin typeface="Consolas"/>
              </a:defRPr>
            </a:pPr>
            <a:r>
              <a:t>GROUP BY mes</a:t>
            </a:r>
          </a:p>
          <a:p>
            <a:pPr>
              <a:defRPr sz="1400">
                <a:solidFill>
                  <a:srgbClr val="8B0000"/>
                </a:solidFill>
                <a:latin typeface="Consolas"/>
              </a:defRPr>
            </a:pPr>
            <a:r>
              <a:t>ORDER BY mes;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472C4"/>
                </a:solidFill>
              </a:defRPr>
            </a:pPr>
            <a:r>
              <a:t>Item 5b: Top 5 categorías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B0000"/>
                </a:solidFill>
                <a:latin typeface="Consolas"/>
              </a:defRPr>
            </a:pPr>
            <a:r>
              <a:t>SELECT category,</a:t>
            </a:r>
          </a:p>
          <a:p>
            <a:pPr>
              <a:defRPr sz="1400">
                <a:solidFill>
                  <a:srgbClr val="8B0000"/>
                </a:solidFill>
                <a:latin typeface="Consolas"/>
              </a:defRPr>
            </a:pPr>
            <a:r>
              <a:t>       SUM(quantity) AS unidades</a:t>
            </a:r>
          </a:p>
          <a:p>
            <a:pPr>
              <a:defRPr sz="1400">
                <a:solidFill>
                  <a:srgbClr val="8B0000"/>
                </a:solidFill>
                <a:latin typeface="Consolas"/>
              </a:defRPr>
            </a:pPr>
            <a:r>
              <a:t>FROM datos_limpios</a:t>
            </a:r>
          </a:p>
          <a:p>
            <a:pPr>
              <a:defRPr sz="1400">
                <a:solidFill>
                  <a:srgbClr val="8B0000"/>
                </a:solidFill>
                <a:latin typeface="Consolas"/>
              </a:defRPr>
            </a:pPr>
            <a:r>
              <a:t>GROUP BY category</a:t>
            </a:r>
          </a:p>
          <a:p>
            <a:pPr>
              <a:defRPr sz="1400">
                <a:solidFill>
                  <a:srgbClr val="8B0000"/>
                </a:solidFill>
                <a:latin typeface="Consolas"/>
              </a:defRPr>
            </a:pPr>
            <a:r>
              <a:t>ORDER BY unidades DESC LIMIT 5;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0AD47"/>
                </a:solidFill>
              </a:defRPr>
            </a:pPr>
            <a:r>
              <a:t>CONCEPTOS TEÓRICOS:</a:t>
            </a:r>
          </a:p>
          <a:p>
            <a:pPr lvl="1">
              <a:defRPr sz="1400"/>
            </a:pPr>
            <a:r>
              <a:t>✅ Agregación (SUM, COUNT)</a:t>
            </a:r>
          </a:p>
          <a:p>
            <a:pPr lvl="1">
              <a:defRPr sz="1400"/>
            </a:pPr>
            <a:r>
              <a:t>✅ Agrupamiento (GROUP BY)</a:t>
            </a:r>
          </a:p>
          <a:p>
            <a:pPr lvl="1">
              <a:defRPr sz="1400"/>
            </a:pPr>
            <a:r>
              <a:t>✅ Ordenamiento (ORDER BY)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📊 Visualizaciones - Matplotlib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80"/>
                </a:solidFill>
                <a:latin typeface="Consolas"/>
              </a:defRPr>
            </a:pPr>
            <a:r>
              <a:t>import matplotlib.pyplot as plt</a:t>
            </a:r>
          </a:p>
          <a:p>
            <a:pPr>
              <a:defRPr sz="1400">
                <a:solidFill>
                  <a:srgbClr val="000080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000080"/>
                </a:solidFill>
                <a:latin typeface="Consolas"/>
              </a:defRPr>
            </a:pPr>
            <a:r>
              <a:t>plt.figure(figsize=(12, 6))</a:t>
            </a:r>
          </a:p>
          <a:p>
            <a:pPr>
              <a:defRPr sz="1400">
                <a:solidFill>
                  <a:srgbClr val="000080"/>
                </a:solidFill>
                <a:latin typeface="Consolas"/>
              </a:defRPr>
            </a:pPr>
            <a:r>
              <a:t>plt.plot(meses, ventas, marker='o')</a:t>
            </a:r>
          </a:p>
          <a:p>
            <a:pPr>
              <a:defRPr sz="1400">
                <a:solidFill>
                  <a:srgbClr val="000080"/>
                </a:solidFill>
                <a:latin typeface="Consolas"/>
              </a:defRPr>
            </a:pPr>
            <a:r>
              <a:t>plt.title('Ventas Mensuales', fontsize=16)</a:t>
            </a:r>
          </a:p>
          <a:p>
            <a:pPr>
              <a:defRPr sz="1400">
                <a:solidFill>
                  <a:srgbClr val="000080"/>
                </a:solidFill>
                <a:latin typeface="Consolas"/>
              </a:defRPr>
            </a:pPr>
            <a:r>
              <a:t>plt.xlabel('Mes')</a:t>
            </a:r>
          </a:p>
          <a:p>
            <a:pPr>
              <a:defRPr sz="1400">
                <a:solidFill>
                  <a:srgbClr val="000080"/>
                </a:solidFill>
                <a:latin typeface="Consolas"/>
              </a:defRPr>
            </a:pPr>
            <a:r>
              <a:t>plt.ylabel('Ventas ($)')</a:t>
            </a:r>
          </a:p>
          <a:p>
            <a:pPr>
              <a:defRPr sz="1400">
                <a:solidFill>
                  <a:srgbClr val="000080"/>
                </a:solidFill>
                <a:latin typeface="Consolas"/>
              </a:defRPr>
            </a:pPr>
            <a:r>
              <a:t>plt.grid(True, alpha=0.3)</a:t>
            </a:r>
          </a:p>
          <a:p>
            <a:pPr>
              <a:defRPr sz="1400">
                <a:solidFill>
                  <a:srgbClr val="000080"/>
                </a:solidFill>
                <a:latin typeface="Consolas"/>
              </a:defRPr>
            </a:pPr>
            <a:r>
              <a:t>plt.savefig('ventas.png', dpi=300)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7D31"/>
                </a:solidFill>
              </a:defRPr>
            </a:pPr>
            <a:r>
              <a:t>GENERAMOS:</a:t>
            </a:r>
          </a:p>
          <a:p>
            <a:pPr lvl="1">
              <a:defRPr sz="1800"/>
            </a:pPr>
            <a:r>
              <a:t>✅ 8 gráficos profesionales</a:t>
            </a:r>
          </a:p>
          <a:p>
            <a:pPr lvl="1">
              <a:defRPr sz="1800"/>
            </a:pPr>
            <a:r>
              <a:t>✅ Resolución 300 DPI</a:t>
            </a:r>
          </a:p>
          <a:p>
            <a:pPr lvl="1">
              <a:defRPr sz="1800"/>
            </a:pPr>
            <a:r>
              <a:t>✅ Formato PNG portable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0AD47"/>
                </a:solidFill>
              </a:defRPr>
            </a:pPr>
            <a:r>
              <a:t>✅ CONCEPTO TEÓRICO: Comunicación de insights (Prog I)</a:t>
            </a:r>
          </a:p>
          <a:p>
            <a:pPr>
              <a:defRPr sz="1400" i="1"/>
            </a:pPr>
            <a:r>
              <a:t>Transformar datos numéricos → Insights visuales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🎯 Hallazgos Estratégicos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472C4"/>
                </a:solidFill>
              </a:defRPr>
            </a:pPr>
            <a:r>
              <a:t>1. SEGMENTO FEMENINO DOMINANTE</a:t>
            </a:r>
          </a:p>
          <a:p>
            <a:pPr lvl="1">
              <a:defRPr sz="1400"/>
            </a:pPr>
            <a:r>
              <a:t>59.8% de transacciones</a:t>
            </a:r>
          </a:p>
          <a:p>
            <a:pPr lvl="1">
              <a:defRPr sz="1300">
                <a:solidFill>
                  <a:srgbClr val="70AD47"/>
                </a:solidFill>
              </a:defRPr>
            </a:pPr>
            <a:r>
              <a:t>→ Ampliar secciones Clothing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39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472C4"/>
                </a:solidFill>
              </a:defRPr>
            </a:pPr>
            <a:r>
              <a:t>2. EFECTIVO SIGUE SIENDO REY</a:t>
            </a:r>
          </a:p>
          <a:p>
            <a:pPr lvl="1">
              <a:defRPr sz="1400"/>
            </a:pPr>
            <a:r>
              <a:t>44.7% usan cash</a:t>
            </a:r>
          </a:p>
          <a:p>
            <a:pPr lvl="1">
              <a:defRPr sz="1300">
                <a:solidFill>
                  <a:srgbClr val="70AD47"/>
                </a:solidFill>
              </a:defRPr>
            </a:pPr>
            <a:r>
              <a:t>→ Mantener cajeros ATM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399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472C4"/>
                </a:solidFill>
              </a:defRPr>
            </a:pPr>
            <a:r>
              <a:t>3. CLOTHING = CATEGORÍA ESTRELLA</a:t>
            </a:r>
          </a:p>
          <a:p>
            <a:pPr lvl="1">
              <a:defRPr sz="1400"/>
            </a:pPr>
            <a:r>
              <a:t>24,685 unidades vendidas</a:t>
            </a:r>
          </a:p>
          <a:p>
            <a:pPr lvl="1">
              <a:defRPr sz="1300">
                <a:solidFill>
                  <a:srgbClr val="70AD47"/>
                </a:solidFill>
              </a:defRPr>
            </a:pPr>
            <a:r>
              <a:t>→ Expandir marcas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51959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472C4"/>
                </a:solidFill>
              </a:defRPr>
            </a:pPr>
            <a:r>
              <a:t>4. TECNOLOGÍA: ALTO VALOR</a:t>
            </a:r>
          </a:p>
          <a:p>
            <a:pPr lvl="1">
              <a:defRPr sz="1400"/>
            </a:pPr>
            <a:r>
              <a:t>Precio promedio: $850</a:t>
            </a:r>
          </a:p>
          <a:p>
            <a:pPr lvl="1">
              <a:defRPr sz="1300">
                <a:solidFill>
                  <a:srgbClr val="70AD47"/>
                </a:solidFill>
              </a:defRPr>
            </a:pPr>
            <a:r>
              <a:t>→ Financiación 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19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472C4"/>
                </a:solidFill>
              </a:defRPr>
            </a:pPr>
            <a:r>
              <a:t>5. MILLENNIALS = 28% MERCADO</a:t>
            </a:r>
          </a:p>
          <a:p>
            <a:pPr lvl="1">
              <a:defRPr sz="1400"/>
            </a:pPr>
            <a:r>
              <a:t>Edad 25-35: mayor spending</a:t>
            </a:r>
          </a:p>
          <a:p>
            <a:pPr lvl="1">
              <a:defRPr sz="1300">
                <a:solidFill>
                  <a:srgbClr val="70AD47"/>
                </a:solidFill>
              </a:defRPr>
            </a:pPr>
            <a:r>
              <a:t>→ Fidelización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⚙️ Decisiones Diferenciadoras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472C4"/>
                </a:solidFill>
              </a:defRPr>
            </a:pPr>
            <a:r>
              <a:t>1. FECHAS ISO 8601</a:t>
            </a:r>
          </a:p>
          <a:p>
            <a:pPr lvl="1">
              <a:defRPr sz="1400">
                <a:solidFill>
                  <a:srgbClr val="404040"/>
                </a:solidFill>
              </a:defRPr>
            </a:pPr>
            <a:r>
              <a:t>→ SQL compatibility + ordenamiento correcto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472C4"/>
                </a:solidFill>
              </a:defRPr>
            </a:pPr>
            <a:r>
              <a:t>2. TABLA DESNORMALIZADA</a:t>
            </a:r>
          </a:p>
          <a:p>
            <a:pPr lvl="1">
              <a:defRPr sz="1400">
                <a:solidFill>
                  <a:srgbClr val="404040"/>
                </a:solidFill>
              </a:defRPr>
            </a:pPr>
            <a:r>
              <a:t>→ Velocidad de consulta (OLAP pattern)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472C4"/>
                </a:solidFill>
              </a:defRPr>
            </a:pPr>
            <a:r>
              <a:t>3. COLUMNAS CALCULADAS PERSISTIDAS</a:t>
            </a:r>
          </a:p>
          <a:p>
            <a:pPr lvl="1">
              <a:defRPr sz="1400">
                <a:solidFill>
                  <a:srgbClr val="404040"/>
                </a:solidFill>
              </a:defRPr>
            </a:pPr>
            <a:r>
              <a:t>→ Performance (calcular 1 vez, consultar N veces)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472C4"/>
                </a:solidFill>
              </a:defRPr>
            </a:pPr>
            <a:r>
              <a:t>4. CONFIGURACIÓN COLAB AUTOMÁTICA</a:t>
            </a:r>
          </a:p>
          <a:p>
            <a:pPr lvl="1">
              <a:defRPr sz="1400">
                <a:solidFill>
                  <a:srgbClr val="404040"/>
                </a:solidFill>
              </a:defRPr>
            </a:pPr>
            <a:r>
              <a:t>→ Reproducibilidad garantizada (1 click)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59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472C4"/>
                </a:solidFill>
              </a:defRPr>
            </a:pPr>
            <a:r>
              <a:t>5. MANEJO SELECTIVO DE NULOS</a:t>
            </a:r>
          </a:p>
          <a:p>
            <a:pPr lvl="1">
              <a:defRPr sz="1400">
                <a:solidFill>
                  <a:srgbClr val="404040"/>
                </a:solidFill>
              </a:defRPr>
            </a:pPr>
            <a:r>
              <a:t>→ Transparencia + calidad (99.88% recovery)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70AD47"/>
                </a:solidFill>
              </a:defRPr>
            </a:pPr>
            <a:r>
              <a:t>✅ CONCEPTO TEÓRICO: Trade-offs conscientes (Ingeniería de Software)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🎓 Mapeo Teoría-Práctica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472C4"/>
                </a:solidFill>
              </a:defRPr>
            </a:pPr>
            <a:r>
              <a:t>PROGRAMACIÓN I:</a:t>
            </a:r>
          </a:p>
          <a:p>
            <a:pPr lvl="1">
              <a:defRPr sz="1400"/>
            </a:pPr>
            <a:r>
              <a:t>✅ Estructuras de datos (DataFrames)</a:t>
            </a:r>
          </a:p>
          <a:p>
            <a:pPr lvl="1">
              <a:defRPr sz="1400"/>
            </a:pPr>
            <a:r>
              <a:t>✅ Funciones y modularidad</a:t>
            </a:r>
          </a:p>
          <a:p>
            <a:pPr lvl="1">
              <a:defRPr sz="1400"/>
            </a:pPr>
            <a:r>
              <a:t>✅ Manejo de archivos</a:t>
            </a:r>
          </a:p>
          <a:p>
            <a:pPr lvl="1">
              <a:defRPr sz="1400"/>
            </a:pPr>
            <a:r>
              <a:t>✅ Librerías externas (import)</a:t>
            </a:r>
          </a:p>
          <a:p>
            <a:pPr lvl="1">
              <a:defRPr sz="1400"/>
            </a:pPr>
            <a:r>
              <a:t>✅ Visualización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472C4"/>
                </a:solidFill>
              </a:defRPr>
            </a:pPr>
            <a:r>
              <a:t>BASE DE DATOS II:</a:t>
            </a:r>
          </a:p>
          <a:p>
            <a:pPr lvl="1">
              <a:defRPr sz="1400"/>
            </a:pPr>
            <a:r>
              <a:t>✅ Modelo relacional</a:t>
            </a:r>
          </a:p>
          <a:p>
            <a:pPr lvl="1">
              <a:defRPr sz="1400"/>
            </a:pPr>
            <a:r>
              <a:t>✅ SQL: SELECT, GROUP BY, JOIN</a:t>
            </a:r>
          </a:p>
          <a:p>
            <a:pPr lvl="1">
              <a:defRPr sz="1400"/>
            </a:pPr>
            <a:r>
              <a:t>✅ Normalización vs Desnorm.</a:t>
            </a:r>
          </a:p>
          <a:p>
            <a:pPr lvl="1">
              <a:defRPr sz="1400"/>
            </a:pPr>
            <a:r>
              <a:t>✅ Data Warehousing (OLAP)</a:t>
            </a:r>
          </a:p>
          <a:p>
            <a:pPr lvl="1">
              <a:defRPr sz="1400"/>
            </a:pPr>
            <a:r>
              <a:t>✅ Integridad y calidad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D7D31"/>
                </a:solidFill>
              </a:defRPr>
            </a:pPr>
            <a:r>
              <a:t>RESULTADO:</a:t>
            </a:r>
          </a:p>
          <a:p>
            <a:pPr algn="ctr">
              <a:defRPr sz="1800"/>
            </a:pPr>
            <a:r>
              <a:t>ETL completo, reproducible, escalable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30352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4E79"/>
                </a:solidFill>
              </a:defRPr>
            </a:pPr>
            <a:r>
              <a:t>¿PREGUNTAS? 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